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6" r:id="rId9"/>
    <p:sldId id="270" r:id="rId10"/>
    <p:sldId id="271" r:id="rId11"/>
    <p:sldId id="262" r:id="rId12"/>
    <p:sldId id="263" r:id="rId13"/>
    <p:sldId id="272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2879" autoAdjust="0"/>
  </p:normalViewPr>
  <p:slideViewPr>
    <p:cSldViewPr snapToGrid="0" snapToObjects="1">
      <p:cViewPr varScale="1">
        <p:scale>
          <a:sx n="57" d="100"/>
          <a:sy n="57" d="100"/>
        </p:scale>
        <p:origin x="11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A8FEB-287E-7449-85E7-A927F7CB73B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D4E81-1DD6-1240-8180-8C16B23C8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afternoon, respected panel.</a:t>
            </a:r>
            <a:br>
              <a:rPr lang="en-US" dirty="0"/>
            </a:br>
            <a:r>
              <a:rPr lang="en-US" dirty="0"/>
              <a:t>We are presenting our Final Year Project Proposal titled </a:t>
            </a:r>
            <a:r>
              <a:rPr lang="en-US" i="1" dirty="0"/>
              <a:t>“Intelligent AI-Powered HR Recruitment System.”</a:t>
            </a:r>
            <a:br>
              <a:rPr lang="en-US" dirty="0"/>
            </a:br>
            <a:r>
              <a:rPr lang="en-US" dirty="0"/>
              <a:t>I am </a:t>
            </a:r>
            <a:r>
              <a:rPr lang="en-US" b="1" dirty="0"/>
              <a:t>Zunaira Akbar</a:t>
            </a:r>
            <a:r>
              <a:rPr lang="en-US" dirty="0"/>
              <a:t>, and my teammate is </a:t>
            </a:r>
            <a:r>
              <a:rPr lang="en-US" b="1" dirty="0"/>
              <a:t>Umair Ahmad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Our supervisor is </a:t>
            </a:r>
            <a:r>
              <a:rPr lang="en-US" b="1" dirty="0"/>
              <a:t>Sir Abdul Rafay</a:t>
            </a:r>
            <a:r>
              <a:rPr lang="en-US" dirty="0"/>
              <a:t>, with </a:t>
            </a:r>
            <a:r>
              <a:rPr lang="en-US" b="1" dirty="0"/>
              <a:t>Miss Asiya Batool</a:t>
            </a:r>
            <a:r>
              <a:rPr lang="en-US" dirty="0"/>
              <a:t> as our co-supervisor, and our industrial partner is </a:t>
            </a:r>
            <a:r>
              <a:rPr lang="en-US" b="1" dirty="0"/>
              <a:t>Techinn.io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4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outline of our presentation.</a:t>
            </a:r>
            <a:br>
              <a:rPr lang="en-US" dirty="0"/>
            </a:br>
            <a:r>
              <a:rPr lang="en-US" dirty="0"/>
              <a:t>We’ll begin with an introduction, then move to the problem statement and objectives, followed by the proposed design and methodology.</a:t>
            </a:r>
            <a:br>
              <a:rPr lang="en-US" dirty="0"/>
            </a:br>
            <a:r>
              <a:rPr lang="en-US" dirty="0"/>
              <a:t>After that, we’ll discuss the tools and technologies, our work plan, and finally conclude with a Q&amp;A session.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0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today’s hiring process, HR teams handle thousands of resumes manually.</a:t>
            </a:r>
            <a:br>
              <a:rPr lang="en-US" dirty="0"/>
            </a:br>
            <a:r>
              <a:rPr lang="en-US" dirty="0"/>
              <a:t>This process is slow, biased, and often causes strong candidates to be overlooked.</a:t>
            </a:r>
            <a:br>
              <a:rPr lang="en-US" dirty="0"/>
            </a:br>
            <a:r>
              <a:rPr lang="en-US" dirty="0"/>
              <a:t>Our goal is to solve this problem using Artificial Intelligence, to automate screening, improve decision-making, and enhance candidate experience.</a:t>
            </a:r>
            <a:br>
              <a:rPr lang="en-US" dirty="0"/>
            </a:br>
            <a:r>
              <a:rPr lang="en-US" dirty="0"/>
              <a:t>We plan to develop an AI-based recruitment system that uses NLP, machine learning, and workflow automation to make hiring faster and fairer.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71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recruitment is inefficient and highly manual.</a:t>
            </a:r>
            <a:br>
              <a:rPr lang="en-US" dirty="0"/>
            </a:br>
            <a:r>
              <a:rPr lang="en-US" dirty="0"/>
              <a:t>It involves repetitive tasks like resume screening, communication, and offer management.</a:t>
            </a:r>
            <a:br>
              <a:rPr lang="en-US" dirty="0"/>
            </a:br>
            <a:r>
              <a:rPr lang="en-US" dirty="0"/>
              <a:t>This leads to delays and inconsistent hiring decisions.</a:t>
            </a:r>
            <a:br>
              <a:rPr lang="en-US" dirty="0"/>
            </a:br>
            <a:r>
              <a:rPr lang="en-US" dirty="0"/>
              <a:t>Our objectives are:</a:t>
            </a:r>
          </a:p>
          <a:p>
            <a:r>
              <a:rPr lang="en-US" dirty="0"/>
              <a:t>Automate job posting, screening, and shortlisting.</a:t>
            </a:r>
          </a:p>
          <a:p>
            <a:r>
              <a:rPr lang="en-US" dirty="0"/>
              <a:t>Use NLP and ML to match resumes with job descriptions.</a:t>
            </a:r>
          </a:p>
          <a:p>
            <a:r>
              <a:rPr lang="en-US" dirty="0"/>
              <a:t>Integrate a chatbot for candidate communication.</a:t>
            </a:r>
          </a:p>
          <a:p>
            <a:r>
              <a:rPr lang="en-US" dirty="0"/>
              <a:t>Analyze soft skills through AI-based video or audio analysis.</a:t>
            </a:r>
          </a:p>
          <a:p>
            <a:r>
              <a:rPr lang="en-US" dirty="0"/>
              <a:t>Provide an HR dashboard for automated decision-making and offer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4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recruitment systems only used keyword matching, which ignored the meaning behind text.</a:t>
            </a:r>
            <a:br>
              <a:rPr lang="en-US" dirty="0"/>
            </a:br>
            <a:r>
              <a:rPr lang="en-US" dirty="0"/>
              <a:t>With NLP and deep learning models like BERT and Sentence-BERT, systems can now understand context and match resumes more accurately.</a:t>
            </a:r>
            <a:br>
              <a:rPr lang="en-US" dirty="0"/>
            </a:br>
            <a:r>
              <a:rPr lang="en-US" dirty="0"/>
              <a:t>Existing tools such as Resume Matcher or AI-based ATS show good results, but they don’t automate the full recruitment cycle.</a:t>
            </a:r>
            <a:br>
              <a:rPr lang="en-US" dirty="0"/>
            </a:br>
            <a:r>
              <a:rPr lang="en-US" dirty="0"/>
              <a:t>Our system aims to provide complete end-to-end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85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22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starts with the HRMS CV database.</a:t>
            </a:r>
            <a:br>
              <a:rPr lang="en-US" dirty="0"/>
            </a:br>
            <a:r>
              <a:rPr lang="en-US" dirty="0"/>
              <a:t>CVs are analyzed using NLP to extract and score candidate information.</a:t>
            </a:r>
            <a:br>
              <a:rPr lang="en-US" dirty="0"/>
            </a:br>
            <a:r>
              <a:rPr lang="en-US" dirty="0"/>
              <a:t>Then the system evaluates both technical and soft skills.</a:t>
            </a:r>
            <a:br>
              <a:rPr lang="en-US" dirty="0"/>
            </a:br>
            <a:r>
              <a:rPr lang="en-US" dirty="0"/>
              <a:t>A chatbot handles candidate queries and interview scheduling.</a:t>
            </a:r>
            <a:br>
              <a:rPr lang="en-US" dirty="0"/>
            </a:br>
            <a:r>
              <a:rPr lang="en-US" dirty="0"/>
              <a:t>Finally, the system automates interview invitations, offer letters, and rejections.</a:t>
            </a:r>
            <a:br>
              <a:rPr lang="en-US" dirty="0"/>
            </a:br>
            <a:r>
              <a:rPr lang="en-US" dirty="0"/>
              <a:t>The innovation here is full automation of the recruitment cycle using AI and chatbot-driven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63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component has a specific role:</a:t>
            </a:r>
          </a:p>
          <a:p>
            <a:r>
              <a:rPr lang="en-US" dirty="0"/>
              <a:t>The CV Analyzer uses BERT to extract skills and experience.</a:t>
            </a:r>
          </a:p>
          <a:p>
            <a:r>
              <a:rPr lang="en-US" dirty="0"/>
              <a:t>Technical and Soft Skills Scoring measures how well a candidate matches job needs.</a:t>
            </a:r>
          </a:p>
          <a:p>
            <a:r>
              <a:rPr lang="en-US" dirty="0"/>
              <a:t>Soft Skill Scoring uses video or audio responses to check confidence and communication.</a:t>
            </a:r>
          </a:p>
          <a:p>
            <a:r>
              <a:rPr lang="en-US" dirty="0"/>
              <a:t>The Chatbot answers questions and gives updates.</a:t>
            </a:r>
          </a:p>
          <a:p>
            <a:r>
              <a:rPr lang="en-US" dirty="0"/>
              <a:t>The Interview Automation will automatically ..</a:t>
            </a:r>
          </a:p>
          <a:p>
            <a:r>
              <a:rPr lang="en-US" dirty="0"/>
              <a:t>The Dashboard helps HR visualize rankings and make final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5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has both functional and non-functional goals.</a:t>
            </a:r>
            <a:br>
              <a:rPr lang="en-US" dirty="0"/>
            </a:br>
            <a:r>
              <a:rPr lang="en-US" dirty="0"/>
              <a:t>Functionally, it automatically fetches CVs, ranks candidates, and sends interview or offer emails.</a:t>
            </a:r>
            <a:br>
              <a:rPr lang="en-US" dirty="0"/>
            </a:br>
            <a:r>
              <a:rPr lang="en-US" dirty="0"/>
              <a:t>Non-functionally, it must handle up to 10,000 CVs per day, maintain data security, and achieve more than 85% accuracy.</a:t>
            </a:r>
            <a:br>
              <a:rPr lang="en-US" dirty="0"/>
            </a:br>
            <a:r>
              <a:rPr lang="en-US" dirty="0"/>
              <a:t>We also focus on ethics — ensuring fairness and transparency in AI decisions.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47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35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use Python for core development and Flask or Django for the backend.</a:t>
            </a:r>
            <a:br>
              <a:rPr lang="en-US" dirty="0"/>
            </a:br>
            <a:r>
              <a:rPr lang="en-US" dirty="0"/>
              <a:t>For NLP, we’ll use BERT from Hugging Face.</a:t>
            </a:r>
            <a:br>
              <a:rPr lang="en-US" dirty="0"/>
            </a:br>
            <a:r>
              <a:rPr lang="en-US" dirty="0"/>
              <a:t>OpenCV and </a:t>
            </a:r>
            <a:r>
              <a:rPr lang="en-US" dirty="0" err="1"/>
              <a:t>MediaPipe</a:t>
            </a:r>
            <a:r>
              <a:rPr lang="en-US" dirty="0"/>
              <a:t> will help analyze videos and speech.</a:t>
            </a:r>
            <a:br>
              <a:rPr lang="en-US" dirty="0"/>
            </a:br>
            <a:r>
              <a:rPr lang="en-US" dirty="0"/>
              <a:t>React.js will be used for the frontend dashboard, and the system will be deployed on cloud platforms like AWS or GCP.</a:t>
            </a:r>
            <a:br>
              <a:rPr lang="en-US" dirty="0"/>
            </a:br>
            <a:r>
              <a:rPr lang="en-US" dirty="0"/>
              <a:t>All tools are open-source and cost-effective, making our system scalable and affordable.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74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total project duration is six months — from October 2025 to June 2026.</a:t>
            </a:r>
            <a:br>
              <a:rPr lang="en-US" dirty="0"/>
            </a:br>
            <a:r>
              <a:rPr lang="en-US" dirty="0"/>
              <a:t>Umair will focus mainly on backend and AI modules, and I, Zunaira, will work on the frontend and integration.</a:t>
            </a:r>
            <a:br>
              <a:rPr lang="en-US" dirty="0"/>
            </a:br>
            <a:r>
              <a:rPr lang="en-US" dirty="0"/>
              <a:t>We’ll start with research, then move to development, integration, testing, and finally documentation and presentation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6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all from our side.</a:t>
            </a:r>
            <a:br>
              <a:rPr lang="en-US" dirty="0"/>
            </a:br>
            <a:r>
              <a:rPr lang="en-US" dirty="0"/>
              <a:t>Thank you for listening patiently.</a:t>
            </a:r>
            <a:br>
              <a:rPr lang="en-US" dirty="0"/>
            </a:br>
            <a:r>
              <a:rPr lang="en-US" dirty="0"/>
              <a:t>We’ll now be happy to answer any questions.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7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61EA4-A2BE-D441-92CE-753026655F19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91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4637-80F4-F549-8B0C-6224E9F4992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Namal University, 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7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E94618D-7DC8-584C-8174-F96D4691CC9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88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708-57B0-0342-989F-5540BCA7C095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95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9AC1-B86D-9743-8CA1-3710D8ED1E31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61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9076D-C1BA-D647-BCF6-96C44F48F9F4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3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3C651-28EE-3440-B784-9815FF099FA1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51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3B37-AE97-4846-97A2-3C1B43014991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2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23B9E-9D30-3A47-A187-1C7B9D5CF726}" type="datetime1">
              <a:rPr lang="en-US" smtClean="0"/>
              <a:t>10/22/2025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45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F74D3-80E5-C64D-8A26-ED401BD2F839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42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E373A-E430-3742-8384-5673EEF1CA2B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32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E0B0286-3DD1-3748-AB3E-EB895D98739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Computer Science &amp; Engineering, HITEC University, Taxila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520" y="1432223"/>
            <a:ext cx="9966960" cy="3035808"/>
          </a:xfrm>
        </p:spPr>
        <p:txBody>
          <a:bodyPr/>
          <a:lstStyle/>
          <a:p>
            <a:r>
              <a:rPr lang="en-US" sz="5500" b="1" dirty="0"/>
              <a:t>Intelligent AI-Powered HR Recruitment System</a:t>
            </a:r>
            <a:endParaRPr lang="en-US" sz="5500" b="1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225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Zunaira Akbar NUM-BSCS-2022-34</a:t>
            </a:r>
          </a:p>
          <a:p>
            <a:r>
              <a:rPr lang="en-US" dirty="0"/>
              <a:t>Umair Ahmad NUM-BSCS-2022-36</a:t>
            </a:r>
          </a:p>
          <a:p>
            <a:endParaRPr lang="en-US" sz="900" dirty="0"/>
          </a:p>
          <a:p>
            <a:r>
              <a:rPr lang="en-US" b="1" dirty="0"/>
              <a:t>Supervisor: Mr. </a:t>
            </a:r>
            <a:r>
              <a:rPr lang="en-US" dirty="0"/>
              <a:t>Abdul Rafay</a:t>
            </a:r>
          </a:p>
          <a:p>
            <a:r>
              <a:rPr lang="en-US" b="1" dirty="0"/>
              <a:t>Co-Supervisor: Ms. </a:t>
            </a:r>
            <a:r>
              <a:rPr lang="en-US" dirty="0"/>
              <a:t>Asiya Batool</a:t>
            </a:r>
            <a:endParaRPr lang="en-US" b="1" dirty="0"/>
          </a:p>
          <a:p>
            <a:r>
              <a:rPr lang="en-US" b="1" dirty="0"/>
              <a:t>Industrial Partner: </a:t>
            </a:r>
            <a:r>
              <a:rPr lang="en-US" dirty="0"/>
              <a:t>Techinn.io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088136" y="6289717"/>
            <a:ext cx="6327648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67150" y="52232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Year Project </a:t>
            </a:r>
            <a:r>
              <a:rPr lang="mr-IN" b="1" dirty="0"/>
              <a:t>–</a:t>
            </a:r>
            <a:r>
              <a:rPr lang="en-US" b="1"/>
              <a:t> Proposal </a:t>
            </a:r>
            <a:r>
              <a:rPr lang="en-US" b="1" dirty="0"/>
              <a:t>Presentation</a:t>
            </a:r>
          </a:p>
        </p:txBody>
      </p:sp>
      <p:pic>
        <p:nvPicPr>
          <p:cNvPr id="5" name="Picture 4" descr="Namal University">
            <a:extLst>
              <a:ext uri="{FF2B5EF4-FFF2-40B4-BE49-F238E27FC236}">
                <a16:creationId xmlns:a16="http://schemas.microsoft.com/office/drawing/2014/main" id="{008743B0-C69A-85A8-A996-BADAB5A46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7556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5059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Outline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4FE2226-3510-6B97-9484-879FD2C03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5615"/>
            <a:ext cx="561968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Literature Review / Related Existing Products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 Statement and Objectives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Proposed Design Methodology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Hardware / Software Tools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Proposed Work Plan (Gantt Chart)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Thank You / Q&amp;A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ECDCC5B-EF96-9D82-00B3-1408C792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D5D8E424-27F7-79E7-E08F-5AA966F9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48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9961"/>
            <a:ext cx="10058400" cy="1609344"/>
          </a:xfrm>
        </p:spPr>
        <p:txBody>
          <a:bodyPr>
            <a:normAutofit/>
          </a:bodyPr>
          <a:lstStyle/>
          <a:p>
            <a:r>
              <a:rPr lang="en-US" sz="3000" b="1" dirty="0"/>
              <a:t>Introduction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05C6D08-073E-F63C-D28C-D7DF5EAD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5D39F3DD-87C6-ECD0-8F01-78FE81D798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9">
            <a:extLst>
              <a:ext uri="{FF2B5EF4-FFF2-40B4-BE49-F238E27FC236}">
                <a16:creationId xmlns:a16="http://schemas.microsoft.com/office/drawing/2014/main" id="{C682741E-266F-838D-D7E1-99F989F934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5824" y="2462791"/>
            <a:ext cx="942035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Recruitment today is complex, time-consuming, and prone to bias.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HR teams manually screen thousands of resumes stored in HRMS.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manual processes delay hiring and overlook strong candidates.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AI-powered systems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automate screening, enhance decision-making, and</a:t>
            </a: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candidate experience.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project aims to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an AI-based recruitment system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integrating NLP, Machine Learning, and workflow automation.</a:t>
            </a:r>
          </a:p>
        </p:txBody>
      </p:sp>
    </p:spTree>
    <p:extLst>
      <p:ext uri="{BB962C8B-B14F-4D97-AF65-F5344CB8AC3E}">
        <p14:creationId xmlns:p14="http://schemas.microsoft.com/office/powerpoint/2010/main" val="9939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9496"/>
            <a:ext cx="10058400" cy="1609344"/>
          </a:xfrm>
        </p:spPr>
        <p:txBody>
          <a:bodyPr>
            <a:normAutofit/>
          </a:bodyPr>
          <a:lstStyle/>
          <a:p>
            <a:r>
              <a:rPr lang="en-US" sz="3000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419" y="2130562"/>
            <a:ext cx="10515600" cy="37483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Traditional HR recruitment is inefficient, biased, and heavily dependent on manual tasks from resume screening to offer management causing delays and inconsistent hiring decisions.</a:t>
            </a:r>
          </a:p>
          <a:p>
            <a:pPr marL="0" indent="0">
              <a:buNone/>
            </a:pPr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Automate job posting, screening, and shortlisting.</a:t>
            </a:r>
          </a:p>
          <a:p>
            <a:r>
              <a:rPr lang="en-US" dirty="0"/>
              <a:t>Apply NLP &amp; ML to parse and match resumes with job description and do semantic scoring (technical and soft skills scoring).</a:t>
            </a:r>
          </a:p>
          <a:p>
            <a:r>
              <a:rPr lang="en-US" dirty="0"/>
              <a:t>Integrate customized chatbot API for candidate interaction.</a:t>
            </a:r>
          </a:p>
          <a:p>
            <a:r>
              <a:rPr lang="en-US" dirty="0"/>
              <a:t>Analyze soft skills using video/audio responses.</a:t>
            </a:r>
          </a:p>
          <a:p>
            <a:r>
              <a:rPr lang="en-US" dirty="0"/>
              <a:t>Enable HR dashboard for automated decisioning and offer management.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758A22F-0A47-8A7F-BD1B-4A2F051F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CFF03FCA-D191-EA2C-243B-E78EF92E45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993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0091"/>
            <a:ext cx="10058400" cy="1609344"/>
          </a:xfrm>
        </p:spPr>
        <p:txBody>
          <a:bodyPr>
            <a:noAutofit/>
          </a:bodyPr>
          <a:lstStyle/>
          <a:p>
            <a:r>
              <a:rPr lang="en-US" sz="3000" b="1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86916"/>
            <a:ext cx="10058400" cy="4469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Background: AI in Recruitment</a:t>
            </a:r>
            <a:endParaRPr lang="en-US" dirty="0"/>
          </a:p>
          <a:p>
            <a:r>
              <a:rPr lang="en-US" dirty="0"/>
              <a:t>Early AI recruitment tools used keyword-based systems → lacked semantic understanding.</a:t>
            </a:r>
          </a:p>
          <a:p>
            <a:r>
              <a:rPr lang="en-US" dirty="0"/>
              <a:t>With NLP &amp; Deep Learning (BERT, Sentence-BERT), recruitment evolved toward semantic matching.</a:t>
            </a:r>
          </a:p>
          <a:p>
            <a:r>
              <a:rPr lang="en-US" b="1" dirty="0"/>
              <a:t>Resume parsing: </a:t>
            </a:r>
            <a:r>
              <a:rPr lang="en-US" dirty="0"/>
              <a:t>Extracts skills, experience, and education from unstructured CVs.</a:t>
            </a:r>
          </a:p>
          <a:p>
            <a:r>
              <a:rPr lang="en-US" b="1" dirty="0"/>
              <a:t>Semantic similarity models: </a:t>
            </a:r>
            <a:r>
              <a:rPr lang="en-US" dirty="0"/>
              <a:t>Match resumes with job descriptions more accurately.</a:t>
            </a:r>
          </a:p>
          <a:p>
            <a:r>
              <a:rPr lang="en-US" b="1" dirty="0"/>
              <a:t>AI-based assessment tools: </a:t>
            </a:r>
            <a:r>
              <a:rPr lang="en-US" dirty="0"/>
              <a:t>Analyze communication, facial expressions, and tone.</a:t>
            </a:r>
          </a:p>
          <a:p>
            <a:r>
              <a:rPr lang="en-US" dirty="0"/>
              <a:t>Platforms like Resume Matcher and AI-based ATS prove strong potential but lack end-to-end workflow automation.</a:t>
            </a:r>
          </a:p>
          <a:p>
            <a:r>
              <a:rPr lang="en-US" dirty="0"/>
              <a:t>Our system extends beyond matching — it automates the entire recruitment lifecycle.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  <a:endParaRPr lang="en-PK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8A84164-CAA3-2B7C-17C5-124EF1E9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5383ED9A-6519-931B-DBFB-B02553974C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3580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268A-85F5-E130-0398-4ADF432A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68ED-CE9F-2ABA-19C8-F21592384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47" y="-314332"/>
            <a:ext cx="10058400" cy="1609344"/>
          </a:xfrm>
        </p:spPr>
        <p:txBody>
          <a:bodyPr>
            <a:normAutofit/>
          </a:bodyPr>
          <a:lstStyle/>
          <a:p>
            <a:r>
              <a:rPr lang="en-US" sz="3000" b="1" dirty="0"/>
              <a:t>Related Existing Products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5C39D-B824-0942-0C68-56D64E00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  <a:endParaRPr lang="en-PK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9BF241A6-CB21-C2E1-8E54-E6FD7851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024" y="6455346"/>
            <a:ext cx="6327648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CA097-F0EE-6669-C0BB-3EEB815F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6F4945F9-A98F-81A3-32B4-5D43946C71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B72F52F-C233-7210-9C2A-69AEFAFAC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033912"/>
              </p:ext>
            </p:extLst>
          </p:nvPr>
        </p:nvGraphicFramePr>
        <p:xfrm>
          <a:off x="305248" y="1118801"/>
          <a:ext cx="11581505" cy="46203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33950">
                  <a:extLst>
                    <a:ext uri="{9D8B030D-6E8A-4147-A177-3AD203B41FA5}">
                      <a16:colId xmlns:a16="http://schemas.microsoft.com/office/drawing/2014/main" val="370504332"/>
                    </a:ext>
                  </a:extLst>
                </a:gridCol>
                <a:gridCol w="1203466">
                  <a:extLst>
                    <a:ext uri="{9D8B030D-6E8A-4147-A177-3AD203B41FA5}">
                      <a16:colId xmlns:a16="http://schemas.microsoft.com/office/drawing/2014/main" val="1504744688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70215405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21174659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9216859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816913125"/>
                    </a:ext>
                  </a:extLst>
                </a:gridCol>
                <a:gridCol w="2110035">
                  <a:extLst>
                    <a:ext uri="{9D8B030D-6E8A-4147-A177-3AD203B41FA5}">
                      <a16:colId xmlns:a16="http://schemas.microsoft.com/office/drawing/2014/main" val="3577085547"/>
                    </a:ext>
                  </a:extLst>
                </a:gridCol>
                <a:gridCol w="73918">
                  <a:extLst>
                    <a:ext uri="{9D8B030D-6E8A-4147-A177-3AD203B41FA5}">
                      <a16:colId xmlns:a16="http://schemas.microsoft.com/office/drawing/2014/main" val="3548688735"/>
                    </a:ext>
                  </a:extLst>
                </a:gridCol>
              </a:tblGrid>
              <a:tr h="998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Tool/Product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CV Parsing</a:t>
                      </a:r>
                      <a:endParaRPr lang="en-US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Semantic Scoring</a:t>
                      </a:r>
                      <a:endParaRPr lang="en-US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5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Chatbot API</a:t>
                      </a:r>
                      <a:endParaRPr lang="en-PK" sz="15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/>
                        <a:t>Soft Skill Analysis</a:t>
                      </a:r>
                      <a:br>
                        <a:rPr lang="en-US" sz="1500" b="1"/>
                      </a:br>
                      <a:r>
                        <a:rPr lang="en-US" sz="1500" b="1"/>
                        <a:t>(AI Video Interview)</a:t>
                      </a:r>
                      <a:endParaRPr lang="en-US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Interview Automation</a:t>
                      </a:r>
                      <a:endParaRPr lang="en-US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Offer Management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076278"/>
                  </a:ext>
                </a:extLst>
              </a:tr>
              <a:tr h="90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/>
                        <a:t>HireVue</a:t>
                      </a:r>
                      <a:endParaRPr lang="en-US" sz="1500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15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/>
                          <a:ea typeface="+mn-ea"/>
                          <a:cs typeface="+mn-cs"/>
                        </a:rPr>
                        <a:t>✓</a:t>
                      </a:r>
                      <a:endParaRPr kumimoji="0" lang="en-PK" sz="1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/>
                        <a:ea typeface="+mn-ea"/>
                        <a:cs typeface="+mn-cs"/>
                      </a:endParaRP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438197"/>
                  </a:ext>
                </a:extLst>
              </a:tr>
              <a:tr h="1083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Eightfold.ai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>
                          <a:solidFill>
                            <a:srgbClr val="FF0000"/>
                          </a:solidFill>
                        </a:rPr>
                        <a:t>✗</a:t>
                      </a:r>
                      <a:endParaRPr lang="en-PK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396339"/>
                  </a:ext>
                </a:extLst>
              </a:tr>
              <a:tr h="81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Zoho Recruit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 dirty="0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747161"/>
                  </a:ext>
                </a:extLst>
              </a:tr>
              <a:tr h="81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Our Project</a:t>
                      </a:r>
                      <a:endParaRPr lang="en-US" sz="150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/>
                        <a:t>✓</a:t>
                      </a:r>
                      <a:endParaRPr lang="en-PK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/>
                        <a:t>✓</a:t>
                      </a:r>
                      <a:endParaRPr lang="en-PK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/>
                        <a:t>✓</a:t>
                      </a:r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500" b="1"/>
                        <a:t>✓</a:t>
                      </a:r>
                      <a:endParaRPr lang="en-PK" sz="1500" b="1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24259" marR="24259" marT="12130" marB="12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452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218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21374"/>
            <a:ext cx="10058400" cy="988033"/>
          </a:xfrm>
        </p:spPr>
        <p:txBody>
          <a:bodyPr>
            <a:normAutofit/>
          </a:bodyPr>
          <a:lstStyle/>
          <a:p>
            <a:r>
              <a:rPr lang="en-US" sz="3000" b="1" dirty="0"/>
              <a:t>Proposed Design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157" y="941294"/>
            <a:ext cx="10893685" cy="52218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High-Level Architecture Overview</a:t>
            </a:r>
            <a:endParaRPr lang="en-US" sz="1800" dirty="0"/>
          </a:p>
          <a:p>
            <a:r>
              <a:rPr lang="en-US" sz="1800" b="1" dirty="0"/>
              <a:t>Core Flow:</a:t>
            </a:r>
            <a:r>
              <a:rPr lang="en-US" sz="1800" dirty="0"/>
              <a:t> HRMS CV Database → CV Analyzer → Semantic Scoring (Technical + Soft Skill Scoring) → Chatbot Interaction → Online Interview → AI Video/Audio Analysis (Soft Skill Scoring) → Physical Interview → Offer/Apology Automation</a:t>
            </a:r>
          </a:p>
          <a:p>
            <a:pPr marL="0" indent="0">
              <a:buNone/>
            </a:pPr>
            <a:r>
              <a:rPr lang="en-US" sz="1800" b="1" dirty="0"/>
              <a:t>Key Components</a:t>
            </a:r>
            <a:endParaRPr lang="en-US" sz="1800" dirty="0"/>
          </a:p>
          <a:p>
            <a:r>
              <a:rPr lang="en-US" sz="1800" dirty="0"/>
              <a:t>CV Analyzer: Uses NLP (BERT/Sentence-BERT) to extract and parse resume data automatically.</a:t>
            </a:r>
          </a:p>
          <a:p>
            <a:r>
              <a:rPr lang="en-US" sz="1800" dirty="0"/>
              <a:t>Technical and Soft Skill Scoring: Calculates fit score based on skills, experience, and education.</a:t>
            </a:r>
          </a:p>
          <a:p>
            <a:r>
              <a:rPr lang="en-US" sz="1800" dirty="0"/>
              <a:t>Soft Skill Scoring: Evaluates communication, clarity, and confidence from video/audio responses.</a:t>
            </a:r>
          </a:p>
          <a:p>
            <a:r>
              <a:rPr lang="en-US" sz="1800" dirty="0"/>
              <a:t>Chatbot API: Handles FAQs, status updates, and HR queries.</a:t>
            </a:r>
          </a:p>
          <a:p>
            <a:r>
              <a:rPr lang="en-US" sz="1800" dirty="0"/>
              <a:t>Automated Email System: Sends interview invitations and rejection messages.</a:t>
            </a:r>
          </a:p>
          <a:p>
            <a:r>
              <a:rPr lang="en-US" sz="1800" dirty="0"/>
              <a:t>AI Interview Module: Flags low-confidence or negative responses for HR review.</a:t>
            </a:r>
          </a:p>
          <a:p>
            <a:r>
              <a:rPr lang="en-US" sz="1800" dirty="0"/>
              <a:t>Offer Management: Automates physical interview scheduling and offer/rejection letters.</a:t>
            </a:r>
          </a:p>
          <a:p>
            <a:pPr marL="0" indent="0">
              <a:buNone/>
            </a:pPr>
            <a:r>
              <a:rPr lang="en-US" sz="1800" b="1" dirty="0"/>
              <a:t>Innovation: </a:t>
            </a:r>
            <a:r>
              <a:rPr lang="en-US" sz="1800" dirty="0"/>
              <a:t>End-to-end automation of the recruitment cycle combining NLP, AI-based analysis, and chatbot-driven communication — a complete closed-loop workflow missing in current systems.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  <a:endParaRPr lang="en-PK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B955B43-531E-A6AC-D1FB-55778031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66CDE76A-0B78-DC68-A42A-B8D05BBF1A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44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92B6-94F7-E747-58E6-1E523BBD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6357-0A4A-757B-9CD0-6BA8759C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51" y="352864"/>
            <a:ext cx="10058400" cy="850293"/>
          </a:xfrm>
        </p:spPr>
        <p:txBody>
          <a:bodyPr>
            <a:normAutofit/>
          </a:bodyPr>
          <a:lstStyle/>
          <a:p>
            <a:r>
              <a:rPr lang="en-US" sz="3000" b="1" dirty="0"/>
              <a:t>Proposed Design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3B2BE-1987-0958-C7DE-41B36795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101687"/>
            <a:ext cx="9662029" cy="51869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Component-Level Design</a:t>
            </a:r>
            <a:endParaRPr lang="en-US" dirty="0"/>
          </a:p>
          <a:p>
            <a:r>
              <a:rPr lang="en-US" b="1" dirty="0"/>
              <a:t>CV Analyzer: </a:t>
            </a:r>
            <a:r>
              <a:rPr lang="en-US" dirty="0"/>
              <a:t>Extracts key data (skills, education, experience) using NLP and calculates similarity between CV and job description.→ Candidates with ≥70% match move forward.</a:t>
            </a:r>
          </a:p>
          <a:p>
            <a:r>
              <a:rPr lang="en-US" b="1" dirty="0"/>
              <a:t>Scoring Modules: </a:t>
            </a:r>
            <a:r>
              <a:rPr lang="en-US" dirty="0"/>
              <a:t>Technical and Soft Skills Scoring: Uses text similarity and weighted parameters.</a:t>
            </a:r>
          </a:p>
          <a:p>
            <a:r>
              <a:rPr lang="en-US" b="1" dirty="0"/>
              <a:t>Soft Skill Scoring: </a:t>
            </a:r>
            <a:r>
              <a:rPr lang="en-US" dirty="0"/>
              <a:t>Evaluates tone, clarity, and expression via OpenCV + Hugging Face.</a:t>
            </a:r>
          </a:p>
          <a:p>
            <a:r>
              <a:rPr lang="en-US" b="1" dirty="0"/>
              <a:t>AI Interview Module: </a:t>
            </a:r>
            <a:r>
              <a:rPr lang="en-US" dirty="0"/>
              <a:t>Detects emotional stability, confidence, and attentiveness; HR reviews flagged segments.</a:t>
            </a:r>
          </a:p>
          <a:p>
            <a:r>
              <a:rPr lang="en-US" b="1" dirty="0"/>
              <a:t>Chatbot Module: </a:t>
            </a:r>
            <a:r>
              <a:rPr lang="en-US" dirty="0"/>
              <a:t>Built with Rasa/</a:t>
            </a:r>
            <a:r>
              <a:rPr lang="en-US" dirty="0" err="1"/>
              <a:t>Dialogflow</a:t>
            </a:r>
            <a:r>
              <a:rPr lang="en-US" dirty="0"/>
              <a:t> to handle FAQs, updates, and candidate communication.</a:t>
            </a:r>
          </a:p>
          <a:p>
            <a:r>
              <a:rPr lang="en-US" b="1" dirty="0"/>
              <a:t>Interview Automation: </a:t>
            </a:r>
            <a:r>
              <a:rPr lang="en-US" dirty="0"/>
              <a:t>Auto-schedules interviews, sends invites and feedback emails.</a:t>
            </a:r>
            <a:endParaRPr lang="en-US" b="1" dirty="0"/>
          </a:p>
          <a:p>
            <a:r>
              <a:rPr lang="en-US" b="1" dirty="0"/>
              <a:t>Dashboard: </a:t>
            </a:r>
            <a:r>
              <a:rPr lang="en-US" dirty="0"/>
              <a:t>Developed in React for HR to view rankings, filter results, and visualize analytics.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C7F63-C69B-F7D2-5136-7B6F2706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19B221ED-09E1-4046-7569-8697E3B9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35ED-CCD1-0B6E-EEDC-3A335338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B2667987-62F1-0A2B-222C-CB129724E1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3481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50C20-22A0-F94D-4DA2-2CC88DBE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0E9C-8D06-7278-99AB-9852196C2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2933"/>
            <a:ext cx="10058400" cy="826094"/>
          </a:xfrm>
        </p:spPr>
        <p:txBody>
          <a:bodyPr>
            <a:normAutofit/>
          </a:bodyPr>
          <a:lstStyle/>
          <a:p>
            <a:r>
              <a:rPr lang="en-US" sz="3000" b="1" dirty="0"/>
              <a:t>Proposed Design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60BE-F200-D1AA-0094-68F0C3566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97842"/>
            <a:ext cx="10058400" cy="49173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SRS Highlights: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Functional Requirements:</a:t>
            </a:r>
            <a:endParaRPr lang="en-US" dirty="0"/>
          </a:p>
          <a:p>
            <a:r>
              <a:rPr lang="en-US" dirty="0"/>
              <a:t>Auto-fetch and parse CVs on job posting.</a:t>
            </a:r>
          </a:p>
          <a:p>
            <a:r>
              <a:rPr lang="en-US" dirty="0"/>
              <a:t>Automatically rank, shortlist, and send interview/offer/rejection emails.</a:t>
            </a:r>
          </a:p>
          <a:p>
            <a:r>
              <a:rPr lang="en-US" dirty="0"/>
              <a:t>Provide </a:t>
            </a:r>
            <a:r>
              <a:rPr lang="en-US" b="1" dirty="0"/>
              <a:t>explainable AI results</a:t>
            </a:r>
            <a:r>
              <a:rPr lang="en-US" dirty="0"/>
              <a:t> (e.g., “Matched due to 5+ years of Python experience”).</a:t>
            </a:r>
          </a:p>
          <a:p>
            <a:pPr marL="0" indent="0">
              <a:buNone/>
            </a:pPr>
            <a:r>
              <a:rPr lang="en-US" b="1" dirty="0"/>
              <a:t>Non-Functional Requirements:</a:t>
            </a:r>
            <a:endParaRPr lang="en-US" dirty="0"/>
          </a:p>
          <a:p>
            <a:r>
              <a:rPr lang="en-US" b="1" dirty="0"/>
              <a:t>Scalable:</a:t>
            </a:r>
            <a:r>
              <a:rPr lang="en-US" dirty="0"/>
              <a:t> Handle up to </a:t>
            </a:r>
            <a:r>
              <a:rPr lang="en-US" b="1" dirty="0"/>
              <a:t>10,000 CVs/day</a:t>
            </a:r>
            <a:r>
              <a:rPr lang="en-US" dirty="0"/>
              <a:t>.</a:t>
            </a:r>
          </a:p>
          <a:p>
            <a:r>
              <a:rPr lang="en-US" b="1" dirty="0"/>
              <a:t>Secure:</a:t>
            </a:r>
            <a:r>
              <a:rPr lang="en-US" dirty="0"/>
              <a:t> GDPR-compliant data storage and handling.</a:t>
            </a:r>
          </a:p>
          <a:p>
            <a:r>
              <a:rPr lang="en-US" b="1" dirty="0"/>
              <a:t>Accurate:</a:t>
            </a:r>
            <a:r>
              <a:rPr lang="en-US" dirty="0"/>
              <a:t> &gt;85% match and soft-skill classification accuracy.</a:t>
            </a:r>
          </a:p>
          <a:p>
            <a:pPr marL="0" indent="0">
              <a:buNone/>
            </a:pPr>
            <a:r>
              <a:rPr lang="en-US" b="1" dirty="0"/>
              <a:t>Ethical Considerations:</a:t>
            </a:r>
            <a:endParaRPr lang="en-US" dirty="0"/>
          </a:p>
          <a:p>
            <a:r>
              <a:rPr lang="en-US" dirty="0"/>
              <a:t>Regular </a:t>
            </a:r>
            <a:r>
              <a:rPr lang="en-US" b="1" dirty="0"/>
              <a:t>bias audits</a:t>
            </a:r>
            <a:r>
              <a:rPr lang="en-US" dirty="0"/>
              <a:t> to ensure fairness.</a:t>
            </a:r>
          </a:p>
          <a:p>
            <a:r>
              <a:rPr lang="en-US" b="1" dirty="0"/>
              <a:t>Transparent scoring</a:t>
            </a:r>
            <a:r>
              <a:rPr lang="en-US" dirty="0"/>
              <a:t> — no black-box decisions.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9A217-727C-1518-A559-9AD39A30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3341425-1EEC-BCF4-CABF-2DF1B751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4DC41-6EF6-741F-5CBB-364677D1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D60BE008-307C-47C6-C328-84EA30FE26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81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8FA1-1F8B-0816-5239-3E65A095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EAE3-7FE4-B95D-77FF-E9704909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1487"/>
            <a:ext cx="10058400" cy="787808"/>
          </a:xfrm>
        </p:spPr>
        <p:txBody>
          <a:bodyPr>
            <a:normAutofit/>
          </a:bodyPr>
          <a:lstStyle/>
          <a:p>
            <a:r>
              <a:rPr lang="en-US" sz="3000" b="1" dirty="0"/>
              <a:t>Workflow Diagram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09E06E61-2A10-53EA-2471-22141261B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594360" y="970451"/>
            <a:ext cx="11064239" cy="520174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AA18F-BA0C-283B-3C0E-DCCE24F7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145842F4-9D91-EB90-7E93-F528A874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294E0-480C-9CE3-545E-409DA6DC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952B9A9D-93DD-6CA3-71D0-9190206D5A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0080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565068"/>
            <a:ext cx="7009434" cy="1108284"/>
          </a:xfrm>
        </p:spPr>
        <p:txBody>
          <a:bodyPr>
            <a:normAutofit/>
          </a:bodyPr>
          <a:lstStyle/>
          <a:p>
            <a:r>
              <a:rPr lang="en-US" sz="3000" b="1" dirty="0"/>
              <a:t>Hardware/Software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58344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Tools Selection Rationale</a:t>
            </a:r>
            <a:endParaRPr lang="en-US" dirty="0"/>
          </a:p>
          <a:p>
            <a:r>
              <a:rPr lang="en-US" b="1" dirty="0"/>
              <a:t>Software: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Python 3.12 → Core language; versatile for AI &amp; ML workflows.</a:t>
            </a:r>
          </a:p>
          <a:p>
            <a:pPr lvl="1"/>
            <a:r>
              <a:rPr lang="en-US" dirty="0"/>
              <a:t>NLP: Hugging Face Transformers (BERT / Sentence-BERT) → Pre-trained, open-source, efficient for semantic matching; achieves 90%+ accuracy on benchmarks.</a:t>
            </a:r>
          </a:p>
          <a:p>
            <a:pPr lvl="1"/>
            <a:r>
              <a:rPr lang="en-US" dirty="0"/>
              <a:t>CV: OpenCV / </a:t>
            </a:r>
            <a:r>
              <a:rPr lang="en-US" dirty="0" err="1"/>
              <a:t>MediaPipe</a:t>
            </a:r>
            <a:r>
              <a:rPr lang="en-US" dirty="0"/>
              <a:t> → Real-time facial and speech analysis; lightweight for prototype integration.</a:t>
            </a:r>
          </a:p>
          <a:p>
            <a:pPr lvl="1"/>
            <a:r>
              <a:rPr lang="en-US" dirty="0"/>
              <a:t>Chatbot Module: Built with Rasa/</a:t>
            </a:r>
            <a:r>
              <a:rPr lang="en-US" dirty="0" err="1"/>
              <a:t>Dialogflow</a:t>
            </a:r>
            <a:r>
              <a:rPr lang="en-US" dirty="0"/>
              <a:t> to handle FAQs, updates, and candidate communication.</a:t>
            </a:r>
          </a:p>
          <a:p>
            <a:pPr lvl="1"/>
            <a:r>
              <a:rPr lang="en-US" dirty="0"/>
              <a:t>Frontend: React.js → Interactive, responsive dashboard; easy to scale and maintain.</a:t>
            </a:r>
          </a:p>
          <a:p>
            <a:pPr lvl="1"/>
            <a:r>
              <a:rPr lang="en-US" dirty="0"/>
              <a:t>Backend: Flask / Django → Handles API integration and secure communication with HRMS.</a:t>
            </a:r>
          </a:p>
          <a:p>
            <a:r>
              <a:rPr lang="en-US" b="1" dirty="0"/>
              <a:t>Hardware:</a:t>
            </a:r>
            <a:r>
              <a:rPr lang="en-US" dirty="0"/>
              <a:t> Standard Laptop (Intel i7, 16 GB RAM, optional GPU for training).Cloud Deployment (AWS / GCP) for scalability and storage.</a:t>
            </a:r>
          </a:p>
          <a:p>
            <a:r>
              <a:rPr lang="en-US" b="1" dirty="0"/>
              <a:t>Why These?</a:t>
            </a:r>
            <a:r>
              <a:rPr lang="en-US" dirty="0"/>
              <a:t> All open-source → minimizes cost. Proven reliability in AI-based recruitment research (BERT used in ~70% of modern AI HR tools). Scalable, cross-platform, and cost-effective for both development and deployment phases.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EC97B6A-EF8F-88F6-1941-0A9E5A3F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F1D6C988-5A60-5C81-7676-79F37D7779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865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136" y="1572768"/>
            <a:ext cx="10058400" cy="734395"/>
          </a:xfrm>
        </p:spPr>
        <p:txBody>
          <a:bodyPr>
            <a:normAutofit/>
          </a:bodyPr>
          <a:lstStyle/>
          <a:p>
            <a:r>
              <a:rPr lang="en-US" sz="3000" b="1" dirty="0"/>
              <a:t>Proposed 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414016"/>
            <a:ext cx="10058400" cy="202996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Semester-Wise Breakdown</a:t>
            </a:r>
            <a:r>
              <a:rPr lang="en-US" dirty="0"/>
              <a:t> (Session 2022-2026; Focus on FYP Phases)</a:t>
            </a:r>
          </a:p>
          <a:p>
            <a:r>
              <a:rPr lang="en-US" b="1" dirty="0"/>
              <a:t>Modules/Tasks:</a:t>
            </a:r>
            <a:r>
              <a:rPr lang="en-US" dirty="0"/>
              <a:t> Research &amp; Lit Review; CV Analyzer Dev; Chatbot API integration, Interview Module integration; Interview Automation; Dashboard &amp; Testing; Documentation.</a:t>
            </a:r>
          </a:p>
          <a:p>
            <a:r>
              <a:rPr lang="en-US" b="1" dirty="0"/>
              <a:t>Timeline:</a:t>
            </a:r>
            <a:r>
              <a:rPr lang="en-US" dirty="0"/>
              <a:t> 6 months total (Oct 2025 - June 2026).</a:t>
            </a:r>
          </a:p>
          <a:p>
            <a:r>
              <a:rPr lang="en-US" b="1" dirty="0"/>
              <a:t>Team Workload:</a:t>
            </a:r>
            <a:r>
              <a:rPr lang="en-US" dirty="0"/>
              <a:t> Umair Ahmad (backend/AI), </a:t>
            </a:r>
          </a:p>
          <a:p>
            <a:pPr marL="0" indent="0">
              <a:buNone/>
            </a:pPr>
            <a:r>
              <a:rPr lang="en-US" dirty="0"/>
              <a:t>                             Zunaira Akbar (frontend/integration).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C99946C1-833D-FF52-52DD-359D207E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D8CF5B99-C4D7-0D71-F622-FFCB58AEE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235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B205-0EFC-C573-5E76-E0E4E623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7D75-A097-B8D0-4244-73829E86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Proposed Work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5B727-9A15-152E-4773-2D030997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E8DB23F-38E5-FF33-5F8D-0E2491A9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8638A-E536-F13C-2946-1C00E2D7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729CE318-0D8C-F967-7713-A2343B8BD2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 descr="A calendar with blue squares&#10;&#10;AI-generated content may be incorrect.">
            <a:extLst>
              <a:ext uri="{FF2B5EF4-FFF2-40B4-BE49-F238E27FC236}">
                <a16:creationId xmlns:a16="http://schemas.microsoft.com/office/drawing/2014/main" id="{A05A2E1A-F740-4E1E-76F6-4CDCCC686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323" y="1519528"/>
            <a:ext cx="11817885" cy="4259935"/>
          </a:xfrm>
        </p:spPr>
      </p:pic>
    </p:spTree>
    <p:extLst>
      <p:ext uri="{BB962C8B-B14F-4D97-AF65-F5344CB8AC3E}">
        <p14:creationId xmlns:p14="http://schemas.microsoft.com/office/powerpoint/2010/main" val="3546900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22/10/2025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381C38D-F509-D180-A71D-F70F6CAC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44755" y="2605507"/>
            <a:ext cx="30476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+mj-lt"/>
              </a:rPr>
              <a:t>Thank You</a:t>
            </a:r>
          </a:p>
        </p:txBody>
      </p:sp>
      <p:pic>
        <p:nvPicPr>
          <p:cNvPr id="6" name="Picture 5" descr="Namal University">
            <a:extLst>
              <a:ext uri="{FF2B5EF4-FFF2-40B4-BE49-F238E27FC236}">
                <a16:creationId xmlns:a16="http://schemas.microsoft.com/office/drawing/2014/main" id="{CE2D4157-92D2-C494-6F10-AB37CAC532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307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837</TotalTime>
  <Words>1952</Words>
  <Application>Microsoft Office PowerPoint</Application>
  <PresentationFormat>Widescreen</PresentationFormat>
  <Paragraphs>221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Georgia</vt:lpstr>
      <vt:lpstr>Trebuchet MS</vt:lpstr>
      <vt:lpstr>Wingdings</vt:lpstr>
      <vt:lpstr>Wood Type</vt:lpstr>
      <vt:lpstr>Intelligent AI-Powered HR Recruitment System</vt:lpstr>
      <vt:lpstr>Outline</vt:lpstr>
      <vt:lpstr>Introduction</vt:lpstr>
      <vt:lpstr>Problem Statement</vt:lpstr>
      <vt:lpstr>Literature Review</vt:lpstr>
      <vt:lpstr>Related Existing Products</vt:lpstr>
      <vt:lpstr>Proposed Design Methodology</vt:lpstr>
      <vt:lpstr>Proposed Design Methodology</vt:lpstr>
      <vt:lpstr>Proposed Design Methodology</vt:lpstr>
      <vt:lpstr>Workflow Diagram</vt:lpstr>
      <vt:lpstr>Hardware/Software Tools</vt:lpstr>
      <vt:lpstr>Proposed Work Plan</vt:lpstr>
      <vt:lpstr>Proposed Work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creator>Muhammad Shahzad Arif</dc:creator>
  <cp:lastModifiedBy>Umair Ahmad</cp:lastModifiedBy>
  <cp:revision>92</cp:revision>
  <dcterms:created xsi:type="dcterms:W3CDTF">2016-07-14T13:09:07Z</dcterms:created>
  <dcterms:modified xsi:type="dcterms:W3CDTF">2025-10-22T10:14:50Z</dcterms:modified>
</cp:coreProperties>
</file>